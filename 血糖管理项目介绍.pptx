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UI screenshot supplied by user: codex-clipboard-66596ef6-4798-484f-9dc7-bad39658d5d6.png</a:t>
            </a:r>
          </a:p>
          <a:p>
            <a:r>
              <a:t>- Project source: Blood Glucose Management-vue/src/views/RecordsView.vue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source: Blood Glucose Management-vue/package.json</a:t>
            </a:r>
          </a:p>
          <a:p>
            <a:r>
              <a:t>- Project source: Blood Glucose Management-vue/src/services/api.ts</a:t>
            </a:r>
          </a:p>
          <a:p>
            <a:r>
              <a:t>- Project source: Blood Glucose Management-vue/src/views/RecordsView.vue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66750" y="495300"/>
            <a:ext cx="723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10233F"/>
                </a:solidFill>
              </a:defRPr>
            </a:pPr>
            <a:r>
              <a:rPr sz="3750" b="1">
                <a:solidFill>
                  <a:srgbClr val="10233F"/>
                </a:solidFill>
              </a:rPr>
              <a:t>糖安 · 血糖管理</a:t>
            </a:r>
            <a:endParaRPr sz="3750" b="1">
              <a:solidFill>
                <a:srgbClr val="10233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20015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607089"/>
                </a:solidFill>
              </a:defRPr>
            </a:pPr>
            <a:r>
              <a:rPr sz="1650">
                <a:solidFill>
                  <a:srgbClr val="607089"/>
                </a:solidFill>
              </a:rPr>
              <a:t>把每日血糖、饮食、用药与运动，串成一条可执行的健康管理闭环</a:t>
            </a:r>
            <a:endParaRPr sz="1650">
              <a:solidFill>
                <a:srgbClr val="607089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8097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8669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项目整体介绍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305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面向日常自我管理的轻量化 Web 应用</a:t>
            </a:r>
            <a:endParaRPr sz="1350" b="1">
              <a:solidFill>
                <a:srgbClr val="14213D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2686050"/>
            <a:ext cx="466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A84FF"/>
                </a:solidFill>
              </a:defRPr>
            </a:pPr>
            <a:r>
              <a:rPr sz="1500" b="1">
                <a:solidFill>
                  <a:srgbClr val="0A84FF"/>
                </a:solidFill>
              </a:rPr>
              <a:t>记录数据 → 形成趋势 → 识别风险 → 给出建议</a:t>
            </a:r>
            <a:endParaRPr sz="1500" b="1">
              <a:solidFill>
                <a:srgbClr val="0A84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18745" y="3371850"/>
            <a:ext cx="1828165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22605" y="3486150"/>
            <a:ext cx="4241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A84FF"/>
                </a:solidFill>
              </a:defRPr>
            </a:pPr>
            <a:r>
              <a:rPr sz="1350" b="1">
                <a:solidFill>
                  <a:srgbClr val="0A84FF"/>
                </a:solidFill>
              </a:rPr>
              <a:t>01</a:t>
            </a:r>
            <a:endParaRPr sz="1350" b="1">
              <a:solidFill>
                <a:srgbClr val="0A84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3435" y="3467100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记录</a:t>
            </a:r>
            <a:endParaRPr sz="1500" b="1">
              <a:solidFill>
                <a:srgbClr val="14213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9880" y="3829050"/>
            <a:ext cx="153225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9"/>
                </a:solidFill>
              </a:defRPr>
            </a:pPr>
            <a:r>
              <a:rPr sz="975">
                <a:solidFill>
                  <a:srgbClr val="607089"/>
                </a:solidFill>
              </a:rPr>
              <a:t>血糖 / 饮食 / 用药 / 运动</a:t>
            </a:r>
            <a:endParaRPr sz="975">
              <a:solidFill>
                <a:srgbClr val="607089"/>
              </a:solidFill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2190750" y="3657600"/>
            <a:ext cx="266700" cy="26670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2567940" y="3371850"/>
            <a:ext cx="1790065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701290" y="3486150"/>
            <a:ext cx="41529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35C7D3"/>
                </a:solidFill>
              </a:defRPr>
            </a:pPr>
            <a:r>
              <a:rPr sz="1350" b="1">
                <a:solidFill>
                  <a:srgbClr val="35C7D3"/>
                </a:solidFill>
              </a:rPr>
              <a:t>02</a:t>
            </a:r>
            <a:endParaRPr sz="1350" b="1">
              <a:solidFill>
                <a:srgbClr val="35C7D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101340" y="3467100"/>
            <a:ext cx="96964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分析</a:t>
            </a:r>
            <a:endParaRPr sz="1500" b="1">
              <a:solidFill>
                <a:srgbClr val="14213D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701290" y="3829050"/>
            <a:ext cx="15011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9"/>
                </a:solidFill>
              </a:defRPr>
            </a:pPr>
            <a:r>
              <a:rPr sz="975">
                <a:solidFill>
                  <a:srgbClr val="607089"/>
                </a:solidFill>
              </a:rPr>
              <a:t>趋势图与日常指标</a:t>
            </a:r>
            <a:endParaRPr sz="975">
              <a:solidFill>
                <a:srgbClr val="607089"/>
              </a:solidFill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4503420" y="3657600"/>
            <a:ext cx="266700" cy="26670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4880610" y="3371850"/>
            <a:ext cx="185420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013960" y="3486150"/>
            <a:ext cx="43053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34C759"/>
                </a:solidFill>
              </a:defRPr>
            </a:pPr>
            <a:r>
              <a:rPr sz="1350" b="1">
                <a:solidFill>
                  <a:srgbClr val="34C759"/>
                </a:solidFill>
              </a:rPr>
              <a:t>03</a:t>
            </a:r>
            <a:endParaRPr sz="1350" b="1">
              <a:solidFill>
                <a:srgbClr val="34C759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414010" y="3467100"/>
            <a:ext cx="10045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行动</a:t>
            </a:r>
            <a:endParaRPr sz="1500" b="1">
              <a:solidFill>
                <a:srgbClr val="14213D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013960" y="3829050"/>
            <a:ext cx="155511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07089"/>
                </a:solidFill>
              </a:defRPr>
            </a:pPr>
            <a:r>
              <a:rPr sz="975">
                <a:solidFill>
                  <a:srgbClr val="607089"/>
                </a:solidFill>
              </a:rPr>
              <a:t>建议与持续改善</a:t>
            </a:r>
            <a:endParaRPr sz="975">
              <a:solidFill>
                <a:srgbClr val="607089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766560" y="419100"/>
            <a:ext cx="5138420" cy="6267450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392670" y="602107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07089"/>
                </a:solidFill>
              </a:defRPr>
            </a:pPr>
            <a:r>
              <a:rPr sz="1050">
                <a:solidFill>
                  <a:srgbClr val="607089"/>
                </a:solidFill>
              </a:rPr>
              <a:t>真实系统界面：今日完成、记录入口与最近血糖一屏掌握</a:t>
            </a:r>
            <a:endParaRPr sz="1050">
              <a:solidFill>
                <a:srgbClr val="607089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6750" y="649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07089"/>
                </a:solidFill>
              </a:defRPr>
            </a:pPr>
            <a:r>
              <a:rPr sz="900">
                <a:solidFill>
                  <a:srgbClr val="607089"/>
                </a:solidFill>
              </a:rPr>
              <a:t>糖安 · 血糖管理项目介绍</a:t>
            </a:r>
            <a:endParaRPr sz="900">
              <a:solidFill>
                <a:srgbClr val="60708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191875" y="64960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07089"/>
                </a:solidFill>
              </a:defRPr>
            </a:pPr>
            <a:r>
              <a:rPr sz="900">
                <a:solidFill>
                  <a:srgbClr val="607089"/>
                </a:solidFill>
              </a:rPr>
              <a:t>01</a:t>
            </a:r>
            <a:endParaRPr sz="900">
              <a:solidFill>
                <a:srgbClr val="607089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522605" y="4438650"/>
            <a:ext cx="5818505" cy="1995170"/>
          </a:xfrm>
          <a:prstGeom prst="roundRect">
            <a:avLst>
              <a:gd name="adj" fmla="val 12698"/>
            </a:avLst>
          </a:prstGeom>
          <a:solidFill>
            <a:schemeClr val="tx2">
              <a:lumMod val="25000"/>
              <a:lumOff val="75000"/>
            </a:schemeClr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327785" y="5589270"/>
            <a:ext cx="490791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1500" b="1">
                <a:solidFill>
                  <a:srgbClr val="14213D"/>
                </a:solidFill>
              </a:defRPr>
            </a:pPr>
            <a:r>
              <a:rPr lang="zh-CN" altLang="en-US" sz="2000" b="1">
                <a:solidFill>
                  <a:schemeClr val="accent5"/>
                </a:solidFill>
              </a:rPr>
              <a:t>访问地址：https://zlywork.site/</a:t>
            </a:r>
            <a:endParaRPr lang="zh-CN" altLang="en-US" sz="2000" b="1">
              <a:solidFill>
                <a:schemeClr val="accent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416050" y="4796790"/>
            <a:ext cx="490791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1500" b="1">
                <a:solidFill>
                  <a:srgbClr val="14213D"/>
                </a:solidFill>
              </a:defRPr>
            </a:pPr>
            <a:r>
              <a:rPr sz="3200">
                <a:solidFill>
                  <a:schemeClr val="accent5"/>
                </a:solidFill>
                <a:sym typeface="+mn-ea"/>
              </a:rPr>
              <a:t>糖安 · </a:t>
            </a:r>
            <a:r>
              <a:rPr lang="zh-CN" altLang="en-US" sz="3200" b="1">
                <a:solidFill>
                  <a:schemeClr val="accent5"/>
                </a:solidFill>
              </a:rPr>
              <a:t>血糖管理系统</a:t>
            </a:r>
            <a:endParaRPr lang="zh-CN" altLang="en-US" sz="3200" b="1">
              <a:solidFill>
                <a:schemeClr val="accent5"/>
              </a:soli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970" y="692785"/>
            <a:ext cx="2562860" cy="48641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5140" y="693420"/>
            <a:ext cx="2276475" cy="48634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666750" y="49530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0233F"/>
                </a:solidFill>
              </a:defRPr>
            </a:pPr>
            <a:r>
              <a:rPr sz="2625" b="1">
                <a:solidFill>
                  <a:srgbClr val="10233F"/>
                </a:solidFill>
              </a:rPr>
              <a:t>前端把复杂数据，变成清晰而连续的记录体验</a:t>
            </a:r>
            <a:endParaRPr sz="2625" b="1">
              <a:solidFill>
                <a:srgbClr val="10233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06680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07089"/>
                </a:solidFill>
              </a:defRPr>
            </a:pPr>
            <a:r>
              <a:rPr sz="1500">
                <a:solidFill>
                  <a:srgbClr val="607089"/>
                </a:solidFill>
              </a:rPr>
              <a:t>Vue 3 + TypeScript + Vite，配合 Vue Router / Vuex 组织页面与状态</a:t>
            </a:r>
            <a:endParaRPr sz="1500">
              <a:solidFill>
                <a:srgbClr val="607089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85800" y="1733550"/>
            <a:ext cx="4000500" cy="4566920"/>
            <a:chOff x="1080" y="2730"/>
            <a:chExt cx="6300" cy="6300"/>
          </a:xfrm>
        </p:grpSpPr>
        <p:sp>
          <p:nvSpPr>
            <p:cNvPr id="3" name="圆角矩形 2"/>
            <p:cNvSpPr>
              <a:spLocks noGrp="1"/>
            </p:cNvSpPr>
            <p:nvPr/>
          </p:nvSpPr>
          <p:spPr>
            <a:xfrm>
              <a:off x="1080" y="2730"/>
              <a:ext cx="6300" cy="6300"/>
            </a:xfrm>
            <a:prstGeom prst="roundRect">
              <a:avLst>
                <a:gd name="adj" fmla="val 3810"/>
              </a:avLst>
            </a:prstGeom>
            <a:solidFill>
              <a:srgbClr val="F4F8FC"/>
            </a:solidFill>
            <a:ln w="0">
              <a:noFill/>
              <a:prstDash val="solid"/>
            </a:ln>
          </p:spPr>
        </p:sp>
        <p:sp>
          <p:nvSpPr>
            <p:cNvPr id="4" name="矩形 3"/>
            <p:cNvSpPr>
              <a:spLocks noGrp="1"/>
            </p:cNvSpPr>
            <p:nvPr/>
          </p:nvSpPr>
          <p:spPr>
            <a:xfrm>
              <a:off x="1560" y="3150"/>
              <a:ext cx="1800" cy="4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1800" b="1">
                  <a:solidFill>
                    <a:srgbClr val="14213D"/>
                  </a:solidFill>
                </a:defRPr>
              </a:pPr>
              <a:r>
                <a:rPr sz="1800" b="1">
                  <a:solidFill>
                    <a:srgbClr val="14213D"/>
                  </a:solidFill>
                </a:rPr>
                <a:t>技术栈</a:t>
              </a:r>
              <a:endParaRPr sz="1800" b="1">
                <a:solidFill>
                  <a:srgbClr val="14213D"/>
                </a:solidFill>
              </a:endParaRPr>
            </a:p>
          </p:txBody>
        </p:sp>
        <p:sp>
          <p:nvSpPr>
            <p:cNvPr id="5" name="圆角矩形 4"/>
            <p:cNvSpPr>
              <a:spLocks noGrp="1"/>
            </p:cNvSpPr>
            <p:nvPr/>
          </p:nvSpPr>
          <p:spPr>
            <a:xfrm>
              <a:off x="1560" y="3990"/>
              <a:ext cx="1080" cy="720"/>
            </a:xfrm>
            <a:prstGeom prst="roundRect">
              <a:avLst>
                <a:gd name="adj" fmla="val 25000"/>
              </a:avLst>
            </a:prstGeom>
            <a:solidFill>
              <a:srgbClr val="34C759"/>
            </a:solidFill>
            <a:ln w="0">
              <a:noFill/>
              <a:prstDash val="solid"/>
            </a:ln>
          </p:spPr>
        </p:sp>
        <p:sp>
          <p:nvSpPr>
            <p:cNvPr id="6" name="矩形 5"/>
            <p:cNvSpPr>
              <a:spLocks noGrp="1"/>
            </p:cNvSpPr>
            <p:nvPr/>
          </p:nvSpPr>
          <p:spPr>
            <a:xfrm>
              <a:off x="1560" y="4170"/>
              <a:ext cx="10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125" b="1">
                  <a:solidFill>
                    <a:srgbClr val="FFFFFF"/>
                  </a:solidFill>
                </a:defRPr>
              </a:pPr>
              <a:r>
                <a:rPr sz="1125" b="1">
                  <a:solidFill>
                    <a:srgbClr val="FFFFFF"/>
                  </a:solidFill>
                </a:rPr>
                <a:t>VUE</a:t>
              </a:r>
              <a:endParaRPr sz="1125" b="1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>
              <a:spLocks noGrp="1"/>
            </p:cNvSpPr>
            <p:nvPr/>
          </p:nvSpPr>
          <p:spPr>
            <a:xfrm>
              <a:off x="2940" y="4125"/>
              <a:ext cx="360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1275">
                  <a:solidFill>
                    <a:srgbClr val="14213D"/>
                  </a:solidFill>
                </a:defRPr>
              </a:pPr>
              <a:r>
                <a:rPr sz="1275">
                  <a:solidFill>
                    <a:srgbClr val="14213D"/>
                  </a:solidFill>
                </a:rPr>
                <a:t>Vue 3 组件化页面</a:t>
              </a:r>
              <a:endParaRPr sz="1275">
                <a:solidFill>
                  <a:srgbClr val="14213D"/>
                </a:solidFill>
              </a:endParaRPr>
            </a:p>
          </p:txBody>
        </p:sp>
        <p:sp>
          <p:nvSpPr>
            <p:cNvPr id="8" name="圆角矩形 7"/>
            <p:cNvSpPr>
              <a:spLocks noGrp="1"/>
            </p:cNvSpPr>
            <p:nvPr/>
          </p:nvSpPr>
          <p:spPr>
            <a:xfrm>
              <a:off x="1560" y="5070"/>
              <a:ext cx="1080" cy="720"/>
            </a:xfrm>
            <a:prstGeom prst="roundRect">
              <a:avLst>
                <a:gd name="adj" fmla="val 25000"/>
              </a:avLst>
            </a:prstGeom>
            <a:solidFill>
              <a:srgbClr val="0A84FF"/>
            </a:solidFill>
            <a:ln w="0">
              <a:noFill/>
              <a:prstDash val="solid"/>
            </a:ln>
          </p:spPr>
        </p:sp>
        <p:sp>
          <p:nvSpPr>
            <p:cNvPr id="9" name="矩形 8"/>
            <p:cNvSpPr>
              <a:spLocks noGrp="1"/>
            </p:cNvSpPr>
            <p:nvPr/>
          </p:nvSpPr>
          <p:spPr>
            <a:xfrm>
              <a:off x="1560" y="5250"/>
              <a:ext cx="10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125" b="1">
                  <a:solidFill>
                    <a:srgbClr val="FFFFFF"/>
                  </a:solidFill>
                </a:defRPr>
              </a:pPr>
              <a:r>
                <a:rPr sz="1125" b="1">
                  <a:solidFill>
                    <a:srgbClr val="FFFFFF"/>
                  </a:solidFill>
                </a:rPr>
                <a:t>TS</a:t>
              </a:r>
              <a:endParaRPr sz="1125" b="1">
                <a:solidFill>
                  <a:srgbClr val="FFFFFF"/>
                </a:solidFill>
              </a:endParaRPr>
            </a:p>
          </p:txBody>
        </p:sp>
        <p:sp>
          <p:nvSpPr>
            <p:cNvPr id="10" name="矩形 9"/>
            <p:cNvSpPr>
              <a:spLocks noGrp="1"/>
            </p:cNvSpPr>
            <p:nvPr/>
          </p:nvSpPr>
          <p:spPr>
            <a:xfrm>
              <a:off x="2940" y="5205"/>
              <a:ext cx="360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1275">
                  <a:solidFill>
                    <a:srgbClr val="14213D"/>
                  </a:solidFill>
                </a:defRPr>
              </a:pPr>
              <a:r>
                <a:rPr sz="1275">
                  <a:solidFill>
                    <a:srgbClr val="14213D"/>
                  </a:solidFill>
                </a:rPr>
                <a:t>TypeScript 类型约束</a:t>
              </a:r>
              <a:endParaRPr sz="1275">
                <a:solidFill>
                  <a:srgbClr val="14213D"/>
                </a:solidFill>
              </a:endParaRPr>
            </a:p>
          </p:txBody>
        </p:sp>
        <p:sp>
          <p:nvSpPr>
            <p:cNvPr id="11" name="圆角矩形 10"/>
            <p:cNvSpPr>
              <a:spLocks noGrp="1"/>
            </p:cNvSpPr>
            <p:nvPr/>
          </p:nvSpPr>
          <p:spPr>
            <a:xfrm>
              <a:off x="1560" y="6150"/>
              <a:ext cx="1080" cy="720"/>
            </a:xfrm>
            <a:prstGeom prst="roundRect">
              <a:avLst>
                <a:gd name="adj" fmla="val 25000"/>
              </a:avLst>
            </a:prstGeom>
            <a:solidFill>
              <a:srgbClr val="FF9F0A"/>
            </a:solidFill>
            <a:ln w="0">
              <a:noFill/>
              <a:prstDash val="solid"/>
            </a:ln>
          </p:spPr>
        </p:sp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1560" y="6330"/>
              <a:ext cx="10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125" b="1">
                  <a:solidFill>
                    <a:srgbClr val="FFFFFF"/>
                  </a:solidFill>
                </a:defRPr>
              </a:pPr>
              <a:r>
                <a:rPr sz="1125" b="1">
                  <a:solidFill>
                    <a:srgbClr val="FFFFFF"/>
                  </a:solidFill>
                </a:rPr>
                <a:t>VITE</a:t>
              </a:r>
              <a:endParaRPr sz="1125" b="1">
                <a:solidFill>
                  <a:srgbClr val="FFFFFF"/>
                </a:solidFill>
              </a:endParaRPr>
            </a:p>
          </p:txBody>
        </p:sp>
        <p:sp>
          <p:nvSpPr>
            <p:cNvPr id="13" name="矩形 12"/>
            <p:cNvSpPr>
              <a:spLocks noGrp="1"/>
            </p:cNvSpPr>
            <p:nvPr/>
          </p:nvSpPr>
          <p:spPr>
            <a:xfrm>
              <a:off x="2940" y="6285"/>
              <a:ext cx="360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1275">
                  <a:solidFill>
                    <a:srgbClr val="14213D"/>
                  </a:solidFill>
                </a:defRPr>
              </a:pPr>
              <a:r>
                <a:rPr sz="1275">
                  <a:solidFill>
                    <a:srgbClr val="14213D"/>
                  </a:solidFill>
                </a:rPr>
                <a:t>Vite 快速构建与热更新</a:t>
              </a:r>
              <a:endParaRPr sz="1275">
                <a:solidFill>
                  <a:srgbClr val="14213D"/>
                </a:solidFill>
              </a:endParaRPr>
            </a:p>
          </p:txBody>
        </p:sp>
        <p:sp>
          <p:nvSpPr>
            <p:cNvPr id="14" name="圆角矩形 13"/>
            <p:cNvSpPr>
              <a:spLocks noGrp="1"/>
            </p:cNvSpPr>
            <p:nvPr/>
          </p:nvSpPr>
          <p:spPr>
            <a:xfrm>
              <a:off x="1560" y="7230"/>
              <a:ext cx="1080" cy="720"/>
            </a:xfrm>
            <a:prstGeom prst="roundRect">
              <a:avLst>
                <a:gd name="adj" fmla="val 25000"/>
              </a:avLst>
            </a:prstGeom>
            <a:solidFill>
              <a:srgbClr val="6C63FF"/>
            </a:solidFill>
            <a:ln w="0">
              <a:noFill/>
              <a:prstDash val="solid"/>
            </a:ln>
          </p:spPr>
        </p:sp>
        <p:sp>
          <p:nvSpPr>
            <p:cNvPr id="15" name="矩形 14"/>
            <p:cNvSpPr>
              <a:spLocks noGrp="1"/>
            </p:cNvSpPr>
            <p:nvPr/>
          </p:nvSpPr>
          <p:spPr>
            <a:xfrm>
              <a:off x="1560" y="7410"/>
              <a:ext cx="10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125" b="1">
                  <a:solidFill>
                    <a:srgbClr val="FFFFFF"/>
                  </a:solidFill>
                </a:defRPr>
              </a:pPr>
              <a:r>
                <a:rPr sz="1125" b="1">
                  <a:solidFill>
                    <a:srgbClr val="FFFFFF"/>
                  </a:solidFill>
                </a:rPr>
                <a:t>STORE</a:t>
              </a:r>
              <a:endParaRPr sz="1125" b="1">
                <a:solidFill>
                  <a:srgbClr val="FFFFFF"/>
                </a:solidFill>
              </a:endParaRPr>
            </a:p>
          </p:txBody>
        </p:sp>
        <p:sp>
          <p:nvSpPr>
            <p:cNvPr id="16" name="矩形 15"/>
            <p:cNvSpPr>
              <a:spLocks noGrp="1"/>
            </p:cNvSpPr>
            <p:nvPr/>
          </p:nvSpPr>
          <p:spPr>
            <a:xfrm>
              <a:off x="2940" y="7365"/>
              <a:ext cx="3600" cy="4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1275">
                  <a:solidFill>
                    <a:srgbClr val="14213D"/>
                  </a:solidFill>
                </a:defRPr>
              </a:pPr>
              <a:r>
                <a:rPr sz="1275">
                  <a:solidFill>
                    <a:srgbClr val="14213D"/>
                  </a:solidFill>
                </a:rPr>
                <a:t>Vuex 统一登录与记录状态</a:t>
              </a:r>
              <a:endParaRPr sz="1275">
                <a:solidFill>
                  <a:srgbClr val="14213D"/>
                </a:solidFill>
              </a:endParaRPr>
            </a:p>
          </p:txBody>
        </p:sp>
      </p:grpSp>
      <p:sp>
        <p:nvSpPr>
          <p:cNvPr id="17" name="矩形 16"/>
          <p:cNvSpPr>
            <a:spLocks noGrp="1"/>
          </p:cNvSpPr>
          <p:nvPr/>
        </p:nvSpPr>
        <p:spPr>
          <a:xfrm>
            <a:off x="5448300" y="175260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一次快照，驱动整页同步</a:t>
            </a:r>
            <a:endParaRPr sz="1800" b="1">
              <a:solidFill>
                <a:srgbClr val="14213D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448300" y="2133600"/>
            <a:ext cx="5381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07089"/>
                </a:solidFill>
              </a:defRPr>
            </a:pPr>
            <a:r>
              <a:rPr sz="1275">
                <a:solidFill>
                  <a:srgbClr val="607089"/>
                </a:solidFill>
              </a:rPr>
              <a:t>记录页只请求一个 dashboard 接口，统计、判断与最近数据来自同一份返回值。</a:t>
            </a:r>
            <a:endParaRPr sz="1275">
              <a:solidFill>
                <a:srgbClr val="607089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448300" y="2895600"/>
            <a:ext cx="5334000" cy="1200150"/>
          </a:xfrm>
          <a:prstGeom prst="roundRect">
            <a:avLst>
              <a:gd name="adj" fmla="val 12698"/>
            </a:avLst>
          </a:prstGeom>
          <a:solidFill>
            <a:srgbClr val="10233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753100" y="31432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D7F4FF"/>
                </a:solidFill>
              </a:defRPr>
            </a:pPr>
            <a:r>
              <a:rPr sz="1650" b="1">
                <a:solidFill>
                  <a:srgbClr val="D7F4FF"/>
                </a:solidFill>
              </a:rPr>
              <a:t>const dashboard = await apiClient.dashboard()</a:t>
            </a:r>
            <a:endParaRPr sz="1650" b="1">
              <a:solidFill>
                <a:srgbClr val="D7F4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753100" y="3543300"/>
            <a:ext cx="466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A9C8E8"/>
                </a:solidFill>
              </a:defRPr>
            </a:pPr>
            <a:r>
              <a:rPr sz="1200">
                <a:solidFill>
                  <a:srgbClr val="A9C8E8"/>
                </a:solidFill>
              </a:rPr>
              <a:t>completion.completed  ·  recentGlucose  ·  四类签到</a:t>
            </a:r>
            <a:endParaRPr sz="1200">
              <a:solidFill>
                <a:srgbClr val="A9C8E8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5448300" y="4591050"/>
            <a:ext cx="1143000" cy="590550"/>
          </a:xfrm>
          <a:prstGeom prst="roundRect">
            <a:avLst>
              <a:gd name="adj" fmla="val 19355"/>
            </a:avLst>
          </a:prstGeom>
          <a:solidFill>
            <a:srgbClr val="0A84FF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448300" y="4781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登录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6610350" y="4752975"/>
            <a:ext cx="171450" cy="26670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6829425" y="4591050"/>
            <a:ext cx="1143000" cy="590550"/>
          </a:xfrm>
          <a:prstGeom prst="roundRect">
            <a:avLst>
              <a:gd name="adj" fmla="val 19355"/>
            </a:avLst>
          </a:prstGeom>
          <a:solidFill>
            <a:srgbClr val="35C7D3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829425" y="4781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路由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7991475" y="4752975"/>
            <a:ext cx="171450" cy="26670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8210550" y="4591050"/>
            <a:ext cx="1143000" cy="590550"/>
          </a:xfrm>
          <a:prstGeom prst="roundRect">
            <a:avLst>
              <a:gd name="adj" fmla="val 19355"/>
            </a:avLst>
          </a:prstGeom>
          <a:solidFill>
            <a:srgbClr val="34C759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210550" y="4781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记录页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9372600" y="4752975"/>
            <a:ext cx="171450" cy="26670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9591675" y="4591050"/>
            <a:ext cx="1143000" cy="590550"/>
          </a:xfrm>
          <a:prstGeom prst="roundRect">
            <a:avLst>
              <a:gd name="adj" fmla="val 19355"/>
            </a:avLst>
          </a:prstGeom>
          <a:solidFill>
            <a:srgbClr val="FF9F0A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591675" y="47815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趋势 / 报告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448300" y="547687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07089"/>
                </a:solidFill>
              </a:defRPr>
            </a:pPr>
            <a:r>
              <a:rPr sz="1200">
                <a:solidFill>
                  <a:srgbClr val="607089"/>
                </a:solidFill>
              </a:rPr>
              <a:t>页面体验重点：移动端优先、信息密度适中、反馈状态明确</a:t>
            </a:r>
            <a:endParaRPr sz="1200">
              <a:solidFill>
                <a:srgbClr val="607089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649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07089"/>
                </a:solidFill>
              </a:defRPr>
            </a:pPr>
            <a:r>
              <a:rPr sz="900">
                <a:solidFill>
                  <a:srgbClr val="607089"/>
                </a:solidFill>
              </a:rPr>
              <a:t>糖安 · 血糖管理项目介绍</a:t>
            </a:r>
            <a:endParaRPr sz="900">
              <a:solidFill>
                <a:srgbClr val="60708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191875" y="64960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07089"/>
                </a:solidFill>
              </a:defRPr>
            </a:pPr>
            <a:r>
              <a:rPr sz="900">
                <a:solidFill>
                  <a:srgbClr val="607089"/>
                </a:solidFill>
              </a:rPr>
              <a:t>02</a:t>
            </a:r>
            <a:endParaRPr sz="900">
              <a:solidFill>
                <a:srgbClr val="6070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666750" y="495300"/>
            <a:ext cx="1076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0233F"/>
                </a:solidFill>
              </a:defRPr>
            </a:pPr>
            <a:r>
              <a:rPr sz="2625" b="1">
                <a:solidFill>
                  <a:srgbClr val="10233F"/>
                </a:solidFill>
              </a:rPr>
              <a:t>后端负责可信计算，数据库负责沉淀每一次健康记录</a:t>
            </a:r>
            <a:endParaRPr sz="2625" b="1">
              <a:solidFill>
                <a:srgbClr val="10233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06680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07089"/>
                </a:solidFill>
              </a:defRPr>
            </a:pPr>
            <a:r>
              <a:rPr sz="1500">
                <a:solidFill>
                  <a:srgbClr val="607089"/>
                </a:solidFill>
              </a:rPr>
              <a:t>Spring Boot REST API + Spring Data JPA + MySQL，形成清晰的分层架构</a:t>
            </a:r>
            <a:endParaRPr sz="1500">
              <a:solidFill>
                <a:srgbClr val="607089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54305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838200" y="1695450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0A84FF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184785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Controller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266950" y="178752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REST 接口：登录、记录、趋势、报告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7" name="右箭头 6"/>
          <p:cNvSpPr>
            <a:spLocks noGrp="1"/>
          </p:cNvSpPr>
          <p:nvPr/>
        </p:nvSpPr>
        <p:spPr>
          <a:xfrm>
            <a:off x="3067050" y="2477770"/>
            <a:ext cx="190500" cy="42672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282448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976245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35C7D3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12928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Service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66950" y="306768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业务判断：完成度、状态、建议与统计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3067050" y="3759200"/>
            <a:ext cx="190500" cy="42672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5800" y="410464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38200" y="4257675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34C75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4410075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Repository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66950" y="434911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JPA 查询：按用户、日期与软删除过滤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3067050" y="5040630"/>
            <a:ext cx="190500" cy="42672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85800" y="538607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838200" y="5539105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FF9F0A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569087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MySQL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266950" y="563054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bloodmanage：用户、血糖、饮食、用药、运动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477000" y="1543050"/>
            <a:ext cx="4953000" cy="474091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19900" y="1942465"/>
            <a:ext cx="3429000" cy="426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统一 dashboard 快照</a:t>
            </a:r>
            <a:endParaRPr sz="1800" b="1">
              <a:solidFill>
                <a:srgbClr val="14213D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19900" y="2555240"/>
            <a:ext cx="2857500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07089"/>
                </a:solidFill>
              </a:defRPr>
            </a:pPr>
            <a:r>
              <a:rPr sz="1275">
                <a:solidFill>
                  <a:srgbClr val="607089"/>
                </a:solidFill>
              </a:rPr>
              <a:t>同一个接口同时返回：</a:t>
            </a:r>
            <a:endParaRPr sz="1275">
              <a:solidFill>
                <a:srgbClr val="607089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819900" y="3194685"/>
            <a:ext cx="171450" cy="24003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143750" y="3141345"/>
            <a:ext cx="1238250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4213D"/>
                </a:solidFill>
              </a:defRPr>
            </a:pPr>
            <a:r>
              <a:rPr sz="1200" b="1">
                <a:solidFill>
                  <a:srgbClr val="14213D"/>
                </a:solidFill>
              </a:rPr>
              <a:t>四类签到</a:t>
            </a:r>
            <a:endParaRPr sz="1200" b="1">
              <a:solidFill>
                <a:srgbClr val="14213D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96300" y="3141345"/>
            <a:ext cx="2571750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07089"/>
                </a:solidFill>
              </a:defRPr>
            </a:pPr>
            <a:r>
              <a:rPr sz="1125">
                <a:solidFill>
                  <a:srgbClr val="607089"/>
                </a:solidFill>
              </a:rPr>
              <a:t>glucose / meals / medication / exercise</a:t>
            </a:r>
            <a:endParaRPr sz="1125">
              <a:solidFill>
                <a:srgbClr val="607089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819900" y="3833495"/>
            <a:ext cx="171450" cy="24003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143750" y="3780155"/>
            <a:ext cx="1238250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4213D"/>
                </a:solidFill>
              </a:defRPr>
            </a:pPr>
            <a:r>
              <a:rPr sz="1200" b="1">
                <a:solidFill>
                  <a:srgbClr val="14213D"/>
                </a:solidFill>
              </a:rPr>
              <a:t>完成度</a:t>
            </a:r>
            <a:endParaRPr sz="1200" b="1">
              <a:solidFill>
                <a:srgbClr val="14213D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496300" y="3780155"/>
            <a:ext cx="2571750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07089"/>
                </a:solidFill>
              </a:defRPr>
            </a:pPr>
            <a:r>
              <a:rPr sz="1125">
                <a:solidFill>
                  <a:srgbClr val="607089"/>
                </a:solidFill>
              </a:rPr>
              <a:t>completion.completed / total</a:t>
            </a:r>
            <a:endParaRPr sz="1125">
              <a:solidFill>
                <a:srgbClr val="607089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819900" y="4472940"/>
            <a:ext cx="171450" cy="240030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143750" y="4419600"/>
            <a:ext cx="1238250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4213D"/>
                </a:solidFill>
              </a:defRPr>
            </a:pPr>
            <a:r>
              <a:rPr sz="1200" b="1">
                <a:solidFill>
                  <a:srgbClr val="14213D"/>
                </a:solidFill>
              </a:rPr>
              <a:t>最近血糖</a:t>
            </a:r>
            <a:endParaRPr sz="1200" b="1">
              <a:solidFill>
                <a:srgbClr val="14213D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496300" y="4419600"/>
            <a:ext cx="2571750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07089"/>
                </a:solidFill>
              </a:defRPr>
            </a:pPr>
            <a:r>
              <a:rPr sz="1125">
                <a:solidFill>
                  <a:srgbClr val="607089"/>
                </a:solidFill>
              </a:rPr>
              <a:t>recentGlucose（近 7 天）</a:t>
            </a:r>
            <a:endParaRPr sz="1125">
              <a:solidFill>
                <a:srgbClr val="607089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819900" y="5112385"/>
            <a:ext cx="171450" cy="240030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143750" y="5059045"/>
            <a:ext cx="1238250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4213D"/>
                </a:solidFill>
              </a:defRPr>
            </a:pPr>
            <a:r>
              <a:rPr sz="1200" b="1">
                <a:solidFill>
                  <a:srgbClr val="14213D"/>
                </a:solidFill>
              </a:rPr>
              <a:t>风险提示</a:t>
            </a:r>
            <a:endParaRPr sz="1200" b="1">
              <a:solidFill>
                <a:srgbClr val="14213D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96300" y="5059045"/>
            <a:ext cx="2571750" cy="319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07089"/>
                </a:solidFill>
              </a:defRPr>
            </a:pPr>
            <a:r>
              <a:rPr sz="1125">
                <a:solidFill>
                  <a:srgbClr val="607089"/>
                </a:solidFill>
              </a:rPr>
              <a:t>alerts + chart</a:t>
            </a:r>
            <a:endParaRPr sz="1125">
              <a:solidFill>
                <a:srgbClr val="607089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819900" y="5697855"/>
            <a:ext cx="4095750" cy="6394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A84FF"/>
                </a:solidFill>
              </a:defRPr>
            </a:pPr>
            <a:r>
              <a:rPr sz="1200" b="1">
                <a:solidFill>
                  <a:srgbClr val="0A84FF"/>
                </a:solidFill>
              </a:rPr>
              <a:t>结果：统计、判断、列表来自同一份数据库快照，避免并发请求造成“部分记录暂无法同步”。</a:t>
            </a:r>
            <a:endParaRPr sz="1200" b="1">
              <a:solidFill>
                <a:srgbClr val="0A84FF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" y="649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07089"/>
                </a:solidFill>
              </a:defRPr>
            </a:pPr>
            <a:r>
              <a:rPr sz="900">
                <a:solidFill>
                  <a:srgbClr val="607089"/>
                </a:solidFill>
              </a:rPr>
              <a:t>糖安 · 血糖管理项目介绍</a:t>
            </a:r>
            <a:endParaRPr sz="900">
              <a:solidFill>
                <a:srgbClr val="607089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1191875" y="64960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07089"/>
                </a:solidFill>
              </a:defRPr>
            </a:pPr>
            <a:r>
              <a:rPr sz="900">
                <a:solidFill>
                  <a:srgbClr val="607089"/>
                </a:solidFill>
              </a:rPr>
              <a:t>03</a:t>
            </a:r>
            <a:endParaRPr sz="900">
              <a:solidFill>
                <a:srgbClr val="6070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666750" y="495300"/>
            <a:ext cx="1076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0233F"/>
                </a:solidFill>
              </a:defRPr>
            </a:pPr>
            <a:r>
              <a:rPr lang="zh-CN" sz="2625" b="1">
                <a:solidFill>
                  <a:srgbClr val="10233F"/>
                </a:solidFill>
                <a:ea typeface="宋体" panose="02010600030101010101" pitchFamily="2" charset="-122"/>
              </a:rPr>
              <a:t>提示词</a:t>
            </a:r>
            <a:endParaRPr lang="zh-CN" sz="2625" b="1">
              <a:solidFill>
                <a:srgbClr val="10233F"/>
              </a:solidFill>
              <a:ea typeface="宋体" panose="02010600030101010101" pitchFamily="2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06680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07089"/>
                </a:solidFill>
              </a:defRPr>
            </a:pPr>
            <a:r>
              <a:rPr lang="zh-CN" sz="1500">
                <a:solidFill>
                  <a:srgbClr val="607089"/>
                </a:solidFill>
                <a:ea typeface="宋体" panose="02010600030101010101" pitchFamily="2" charset="-122"/>
              </a:rPr>
              <a:t>提示词，分为了原型、前端、后端、数据库、联调、部署等</a:t>
            </a:r>
            <a:endParaRPr lang="zh-CN" sz="1500">
              <a:solidFill>
                <a:srgbClr val="607089"/>
              </a:solidFill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54305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838200" y="1695450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0A84FF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184785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zh-CN" sz="1350" b="1">
                <a:solidFill>
                  <a:srgbClr val="FFFFFF"/>
                </a:solidFill>
                <a:ea typeface="宋体" panose="02010600030101010101" pitchFamily="2" charset="-122"/>
              </a:rPr>
              <a:t>生成原型</a:t>
            </a:r>
            <a:endParaRPr lang="zh-CN" sz="1350" b="1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266950" y="178752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REST 接口：登录、记录、趋势、报告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7" name="右箭头 6"/>
          <p:cNvSpPr>
            <a:spLocks noGrp="1"/>
          </p:cNvSpPr>
          <p:nvPr/>
        </p:nvSpPr>
        <p:spPr>
          <a:xfrm>
            <a:off x="3067050" y="2477770"/>
            <a:ext cx="190500" cy="42672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282448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38200" y="2976245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35C7D3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12928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zh-CN" sz="1350" b="1">
                <a:solidFill>
                  <a:srgbClr val="FFFFFF"/>
                </a:solidFill>
                <a:ea typeface="宋体" panose="02010600030101010101" pitchFamily="2" charset="-122"/>
              </a:rPr>
              <a:t>生成前端</a:t>
            </a:r>
            <a:endParaRPr lang="zh-CN" sz="1350" b="1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66950" y="306768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业务判断：完成度、状态、建议与统计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3067050" y="3759200"/>
            <a:ext cx="190500" cy="42672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5800" y="410464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38200" y="4257675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34C75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4410075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zh-CN" sz="1350" b="1">
                <a:solidFill>
                  <a:srgbClr val="FFFFFF"/>
                </a:solidFill>
                <a:ea typeface="宋体" panose="02010600030101010101" pitchFamily="2" charset="-122"/>
              </a:rPr>
              <a:t>生成接口文档</a:t>
            </a:r>
            <a:endParaRPr lang="zh-CN" sz="1350" b="1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66950" y="434911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JPA 查询：按用户、日期与软删除过滤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3067050" y="5040630"/>
            <a:ext cx="190500" cy="426720"/>
          </a:xfrm>
          <a:prstGeom prst="rightArrow">
            <a:avLst/>
          </a:prstGeom>
          <a:solidFill>
            <a:srgbClr val="DCE6F0"/>
          </a:solidFill>
          <a:ln w="0">
            <a:solidFill>
              <a:srgbClr val="DCE6F0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85800" y="538607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838200" y="5539105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FF9F0A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569087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zh-CN" sz="1350" b="1">
                <a:solidFill>
                  <a:srgbClr val="FFFFFF"/>
                </a:solidFill>
                <a:ea typeface="宋体" panose="02010600030101010101" pitchFamily="2" charset="-122"/>
              </a:rPr>
              <a:t>创建数据库</a:t>
            </a:r>
            <a:endParaRPr lang="zh-CN" sz="1350" b="1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266950" y="563054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bloodmanage：用户、血糖、饮食、用药、运动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" y="649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07089"/>
                </a:solidFill>
              </a:defRPr>
            </a:pPr>
            <a:r>
              <a:rPr sz="900">
                <a:solidFill>
                  <a:srgbClr val="607089"/>
                </a:solidFill>
              </a:rPr>
              <a:t>糖安 · 血糖管理项目介绍</a:t>
            </a:r>
            <a:endParaRPr sz="900">
              <a:solidFill>
                <a:srgbClr val="607089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456045" y="155702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6608445" y="1709420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0A84FF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08445" y="186182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zh-CN" sz="1350" b="1">
                <a:solidFill>
                  <a:srgbClr val="FFFFFF"/>
                </a:solidFill>
                <a:ea typeface="宋体" panose="02010600030101010101" pitchFamily="2" charset="-122"/>
              </a:rPr>
              <a:t>生成后端</a:t>
            </a:r>
            <a:endParaRPr lang="zh-CN" sz="1350" b="1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037195" y="180149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REST 接口：登录、记录、趋势、报告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456045" y="282448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46" name="圆角矩形 45"/>
          <p:cNvSpPr>
            <a:spLocks noGrp="1"/>
          </p:cNvSpPr>
          <p:nvPr/>
        </p:nvSpPr>
        <p:spPr>
          <a:xfrm>
            <a:off x="6536690" y="2976880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0A84FF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536690" y="312928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zh-CN" sz="1350" b="1">
                <a:solidFill>
                  <a:srgbClr val="FFFFFF"/>
                </a:solidFill>
                <a:ea typeface="宋体" panose="02010600030101010101" pitchFamily="2" charset="-122"/>
              </a:rPr>
              <a:t>上传</a:t>
            </a:r>
            <a:r>
              <a:rPr lang="en-US" altLang="zh-CN" sz="1350" b="1">
                <a:solidFill>
                  <a:srgbClr val="FFFFFF"/>
                </a:solidFill>
                <a:ea typeface="宋体" panose="02010600030101010101" pitchFamily="2" charset="-122"/>
              </a:rPr>
              <a:t>git</a:t>
            </a:r>
            <a:endParaRPr lang="en-US" altLang="zh-CN" sz="1350" b="1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965440" y="306895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REST 接口：登录、记录、趋势、报告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456045" y="4091940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0" name="圆角矩形 49"/>
          <p:cNvSpPr>
            <a:spLocks noGrp="1"/>
          </p:cNvSpPr>
          <p:nvPr/>
        </p:nvSpPr>
        <p:spPr>
          <a:xfrm>
            <a:off x="6536690" y="4244340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0A84FF"/>
          </a:solidFill>
          <a:ln w="0">
            <a:noFill/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536690" y="4396740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zh-CN" sz="1350" b="1">
                <a:solidFill>
                  <a:srgbClr val="FFFFFF"/>
                </a:solidFill>
                <a:ea typeface="宋体" panose="02010600030101010101" pitchFamily="2" charset="-122"/>
              </a:rPr>
              <a:t>服务器下载并部署</a:t>
            </a:r>
            <a:endParaRPr lang="zh-CN" sz="1350" b="1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965440" y="4336415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REST 接口：登录、记录、趋势、报告</a:t>
            </a:r>
            <a:endParaRPr sz="1200">
              <a:solidFill>
                <a:srgbClr val="14213D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6384290" y="5329555"/>
            <a:ext cx="4953000" cy="94551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6464935" y="5481955"/>
            <a:ext cx="1219200" cy="640715"/>
          </a:xfrm>
          <a:prstGeom prst="roundRect">
            <a:avLst>
              <a:gd name="adj" fmla="val 19048"/>
            </a:avLst>
          </a:prstGeom>
          <a:solidFill>
            <a:srgbClr val="0A84FF"/>
          </a:solidFill>
          <a:ln w="0">
            <a:noFill/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464935" y="5634355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zh-CN" sz="1350" b="1">
                <a:solidFill>
                  <a:srgbClr val="FFFFFF"/>
                </a:solidFill>
                <a:ea typeface="宋体" panose="02010600030101010101" pitchFamily="2" charset="-122"/>
              </a:rPr>
              <a:t>生成本地化部署脚本</a:t>
            </a:r>
            <a:endParaRPr lang="zh-CN" sz="1350" b="1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7893685" y="5574030"/>
            <a:ext cx="3143250" cy="42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1200">
                <a:solidFill>
                  <a:srgbClr val="14213D"/>
                </a:solidFill>
              </a:defRPr>
            </a:pPr>
            <a:r>
              <a:rPr sz="1200">
                <a:solidFill>
                  <a:srgbClr val="14213D"/>
                </a:solidFill>
              </a:rPr>
              <a:t>REST 接口：登录、记录、趋势、报告</a:t>
            </a:r>
            <a:endParaRPr sz="1200">
              <a:solidFill>
                <a:srgbClr val="14213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1186</Words>
  <Application>WPS 演示</Application>
  <PresentationFormat>Converted Presentation</PresentationFormat>
  <Paragraphs>166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zly</cp:lastModifiedBy>
  <cp:revision>12</cp:revision>
  <dcterms:created xsi:type="dcterms:W3CDTF">2026-09-02T06:22:04Z</dcterms:created>
  <dcterms:modified xsi:type="dcterms:W3CDTF">2026-09-02T06:33:17Z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86EBC426DDE14EA6809F7DA381BDEEDC</vt:lpwstr>
  </property>
  <property fmtid="{D5CDD505-2E9C-101B-9397-08002B2CF9AE}" pid="3" name="KSOProductBuildVer">
    <vt:lpwstr>2052-11.8.2.12309</vt:lpwstr>
  </property>
</Properties>
</file>